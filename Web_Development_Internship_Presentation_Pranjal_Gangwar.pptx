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E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Arial"/>
              </a:defRPr>
            </a:pPr>
            <a:r>
              <a:t>Deep Dive into Web Development</a:t>
            </a:r>
          </a:p>
          <a:p>
            <a:pPr>
              <a:spcBef>
                <a:spcPts val="1200"/>
              </a:spcBef>
              <a:defRPr sz="2400">
                <a:solidFill>
                  <a:srgbClr val="009688"/>
                </a:solidFill>
                <a:latin typeface="Arial"/>
              </a:defRPr>
            </a:pPr>
            <a:r>
              <a:t>Internship Technical Presentation</a:t>
            </a:r>
          </a:p>
          <a:p>
            <a:pPr>
              <a:spcBef>
                <a:spcPts val="4800"/>
              </a:spcBef>
              <a:defRPr sz="1800">
                <a:solidFill>
                  <a:srgbClr val="FFFFFF"/>
                </a:solidFill>
                <a:latin typeface="Arial"/>
              </a:defRPr>
            </a:pPr>
            <a:r>
              <a:t>Presented by: Pranjal Gangwar</a:t>
            </a:r>
            <a:br/>
            <a:r>
              <a:t>Web Development Intern | Codec Technologies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212B36"/>
                </a:solidFill>
                <a:latin typeface="Arial"/>
              </a:defRPr>
            </a:pPr>
            <a:r>
              <a:t>01. Agenda &amp;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1206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400"/>
              </a:spcBef>
              <a:spcAft>
                <a:spcPts val="200"/>
              </a:spcAft>
              <a:defRPr sz="1500" b="1">
                <a:solidFill>
                  <a:srgbClr val="212B36"/>
                </a:solidFill>
                <a:latin typeface="Arial"/>
              </a:defRPr>
            </a:pPr>
            <a:r>
              <a:t>• Introduction: 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400" b="0">
                <a:solidFill>
                  <a:srgbClr val="6E7882"/>
                </a:solidFill>
                <a:latin typeface="Arial"/>
              </a:defRPr>
            </a:pPr>
            <a:r>
              <a:t>Overview of Codec Technologies and internship scope.</a:t>
            </a:r>
          </a:p>
          <a:p>
            <a:pPr>
              <a:spcBef>
                <a:spcPts val="1400"/>
              </a:spcBef>
              <a:spcAft>
                <a:spcPts val="200"/>
              </a:spcAft>
              <a:defRPr sz="1500" b="1">
                <a:solidFill>
                  <a:srgbClr val="212B36"/>
                </a:solidFill>
                <a:latin typeface="Arial"/>
              </a:defRPr>
            </a:pPr>
            <a:r>
              <a:t>• Core Architecture: 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400" b="0">
                <a:solidFill>
                  <a:srgbClr val="6E7882"/>
                </a:solidFill>
                <a:latin typeface="Arial"/>
              </a:defRPr>
            </a:pPr>
            <a:r>
              <a:t>Detailed dissection of Frontend vs. Backend dynamics.</a:t>
            </a:r>
          </a:p>
          <a:p>
            <a:pPr>
              <a:spcBef>
                <a:spcPts val="1400"/>
              </a:spcBef>
              <a:spcAft>
                <a:spcPts val="200"/>
              </a:spcAft>
              <a:defRPr sz="1500" b="1">
                <a:solidFill>
                  <a:srgbClr val="212B36"/>
                </a:solidFill>
                <a:latin typeface="Arial"/>
              </a:defRPr>
            </a:pPr>
            <a:r>
              <a:t>• Client-Side Deep Dive: 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400" b="0">
                <a:solidFill>
                  <a:srgbClr val="6E7882"/>
                </a:solidFill>
                <a:latin typeface="Arial"/>
              </a:defRPr>
            </a:pPr>
            <a:r>
              <a:t>HTML5 structural semantics, CSS3 layouts, and modern ES6+ JavaScript.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82512" y="1645920"/>
            <a:ext cx="51206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400"/>
              </a:spcBef>
              <a:spcAft>
                <a:spcPts val="200"/>
              </a:spcAft>
              <a:defRPr sz="1500" b="1">
                <a:solidFill>
                  <a:srgbClr val="212B36"/>
                </a:solidFill>
                <a:latin typeface="Arial"/>
              </a:defRPr>
            </a:pPr>
            <a:r>
              <a:t>• Server-Side &amp; Databases: 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400" b="0">
                <a:solidFill>
                  <a:srgbClr val="6E7882"/>
                </a:solidFill>
                <a:latin typeface="Arial"/>
              </a:defRPr>
            </a:pPr>
            <a:r>
              <a:t>Application servers, RESTful microservices, and structural SQL vs NoSQL stores.</a:t>
            </a:r>
          </a:p>
          <a:p>
            <a:pPr>
              <a:spcBef>
                <a:spcPts val="1400"/>
              </a:spcBef>
              <a:spcAft>
                <a:spcPts val="200"/>
              </a:spcAft>
              <a:defRPr sz="1500" b="1">
                <a:solidFill>
                  <a:srgbClr val="212B36"/>
                </a:solidFill>
                <a:latin typeface="Arial"/>
              </a:defRPr>
            </a:pPr>
            <a:r>
              <a:t>• Production Workflows: 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400" b="0">
                <a:solidFill>
                  <a:srgbClr val="6E7882"/>
                </a:solidFill>
                <a:latin typeface="Arial"/>
              </a:defRPr>
            </a:pPr>
            <a:r>
              <a:t>Git version control strategy, dependency graphs, and code review processes.</a:t>
            </a:r>
          </a:p>
          <a:p>
            <a:pPr>
              <a:spcBef>
                <a:spcPts val="1400"/>
              </a:spcBef>
              <a:spcAft>
                <a:spcPts val="200"/>
              </a:spcAft>
              <a:defRPr sz="1500" b="1">
                <a:solidFill>
                  <a:srgbClr val="212B36"/>
                </a:solidFill>
                <a:latin typeface="Arial"/>
              </a:defRPr>
            </a:pPr>
            <a:r>
              <a:t>• Execution &amp; Learning: 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400" b="0">
                <a:solidFill>
                  <a:srgbClr val="6E7882"/>
                </a:solidFill>
                <a:latin typeface="Arial"/>
              </a:defRPr>
            </a:pPr>
            <a:r>
              <a:t>Key tasks delivered, technical friction points, and systematic resolutions.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212B36"/>
                </a:solidFill>
                <a:latin typeface="Arial"/>
              </a:defRPr>
            </a:pPr>
            <a:r>
              <a:t>02. Corporate Ecosystem: Codec Technologies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1206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400"/>
              </a:spcBef>
              <a:spcAft>
                <a:spcPts val="200"/>
              </a:spcAft>
              <a:defRPr sz="1500" b="1">
                <a:solidFill>
                  <a:srgbClr val="212B36"/>
                </a:solidFill>
                <a:latin typeface="Arial"/>
              </a:defRPr>
            </a:pPr>
            <a:r>
              <a:t>• Core Identity: 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400" b="0">
                <a:solidFill>
                  <a:srgbClr val="6E7882"/>
                </a:solidFill>
                <a:latin typeface="Arial"/>
              </a:defRPr>
            </a:pPr>
            <a:r>
              <a:t>Codec Technologies is an agile, engineering-centric firm focused on scalable enterprise web apps.</a:t>
            </a:r>
          </a:p>
          <a:p>
            <a:pPr>
              <a:spcBef>
                <a:spcPts val="1400"/>
              </a:spcBef>
              <a:spcAft>
                <a:spcPts val="200"/>
              </a:spcAft>
              <a:defRPr sz="1500" b="1">
                <a:solidFill>
                  <a:srgbClr val="212B36"/>
                </a:solidFill>
                <a:latin typeface="Arial"/>
              </a:defRPr>
            </a:pPr>
            <a:r>
              <a:t>• Operational Matrix: 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400" b="0">
                <a:solidFill>
                  <a:srgbClr val="6E7882"/>
                </a:solidFill>
                <a:latin typeface="Arial"/>
              </a:defRPr>
            </a:pPr>
            <a:r>
              <a:t>Specializes in high-throughput backend services, interactive custom web dashboards, and IT optimization consulting.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82512" y="1645920"/>
            <a:ext cx="51206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400"/>
              </a:spcBef>
              <a:spcAft>
                <a:spcPts val="200"/>
              </a:spcAft>
              <a:defRPr sz="1500" b="1">
                <a:solidFill>
                  <a:srgbClr val="212B36"/>
                </a:solidFill>
                <a:latin typeface="Arial"/>
              </a:defRPr>
            </a:pPr>
            <a:r>
              <a:t>• Development Paradigm: 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400" b="0">
                <a:solidFill>
                  <a:srgbClr val="6E7882"/>
                </a:solidFill>
                <a:latin typeface="Arial"/>
              </a:defRPr>
            </a:pPr>
            <a:r>
              <a:t>Employs modern operational frameworks using continuous integration paradigms (CI/CD) and fast-feedback loops.</a:t>
            </a:r>
          </a:p>
          <a:p>
            <a:pPr>
              <a:spcBef>
                <a:spcPts val="1400"/>
              </a:spcBef>
              <a:spcAft>
                <a:spcPts val="200"/>
              </a:spcAft>
              <a:defRPr sz="1500" b="1">
                <a:solidFill>
                  <a:srgbClr val="212B36"/>
                </a:solidFill>
                <a:latin typeface="Arial"/>
              </a:defRPr>
            </a:pPr>
            <a:r>
              <a:t>• My Mandate: 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400" b="0">
                <a:solidFill>
                  <a:srgbClr val="6E7882"/>
                </a:solidFill>
                <a:latin typeface="Arial"/>
              </a:defRPr>
            </a:pPr>
            <a:r>
              <a:t>Embedded in the web product division to translate strategic project wires into reliable, performant software modules.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212B36"/>
                </a:solidFill>
                <a:latin typeface="Arial"/>
              </a:defRPr>
            </a:pPr>
            <a:r>
              <a:t>03. The Core Dilemma: Client vs. Server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1206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400"/>
              </a:spcBef>
              <a:spcAft>
                <a:spcPts val="200"/>
              </a:spcAft>
              <a:defRPr sz="1500" b="1">
                <a:solidFill>
                  <a:srgbClr val="212B36"/>
                </a:solidFill>
                <a:latin typeface="Arial"/>
              </a:defRPr>
            </a:pPr>
            <a:r>
              <a:t>• The Boundary Lifecycle: 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400" b="0">
                <a:solidFill>
                  <a:srgbClr val="6E7882"/>
                </a:solidFill>
                <a:latin typeface="Arial"/>
              </a:defRPr>
            </a:pPr>
            <a:r>
              <a:t>Web apps rely on an intentional decoupling between user-facing presentation layers and server-side resource engines.</a:t>
            </a:r>
          </a:p>
          <a:p>
            <a:pPr>
              <a:spcBef>
                <a:spcPts val="1400"/>
              </a:spcBef>
              <a:spcAft>
                <a:spcPts val="200"/>
              </a:spcAft>
              <a:defRPr sz="1500" b="1">
                <a:solidFill>
                  <a:srgbClr val="212B36"/>
                </a:solidFill>
                <a:latin typeface="Arial"/>
              </a:defRPr>
            </a:pPr>
            <a:r>
              <a:t>• The Client Layer (Frontend): 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400" b="0">
                <a:solidFill>
                  <a:srgbClr val="6E7882"/>
                </a:solidFill>
                <a:latin typeface="Arial"/>
              </a:defRPr>
            </a:pPr>
            <a:r>
              <a:t>Responsible for presentation delivery, responsive view rendering, visual state, and local accessibility criteria.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82512" y="1645920"/>
            <a:ext cx="51206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400"/>
              </a:spcBef>
              <a:spcAft>
                <a:spcPts val="200"/>
              </a:spcAft>
              <a:defRPr sz="1500" b="1">
                <a:solidFill>
                  <a:srgbClr val="212B36"/>
                </a:solidFill>
                <a:latin typeface="Arial"/>
              </a:defRPr>
            </a:pPr>
            <a:r>
              <a:t>• The Service Layer (Backend): 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400" b="0">
                <a:solidFill>
                  <a:srgbClr val="6E7882"/>
                </a:solidFill>
                <a:latin typeface="Arial"/>
              </a:defRPr>
            </a:pPr>
            <a:r>
              <a:t>Manages domain business validations, security guardrails, secure session states, and high-performance querying.</a:t>
            </a:r>
          </a:p>
          <a:p>
            <a:pPr>
              <a:spcBef>
                <a:spcPts val="1400"/>
              </a:spcBef>
              <a:spcAft>
                <a:spcPts val="200"/>
              </a:spcAft>
              <a:defRPr sz="1500" b="1">
                <a:solidFill>
                  <a:srgbClr val="212B36"/>
                </a:solidFill>
                <a:latin typeface="Arial"/>
              </a:defRPr>
            </a:pPr>
            <a:r>
              <a:t>• The Transport Protocol: 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400" b="0">
                <a:solidFill>
                  <a:srgbClr val="6E7882"/>
                </a:solidFill>
                <a:latin typeface="Arial"/>
              </a:defRPr>
            </a:pPr>
            <a:r>
              <a:t>Bridges layers over structured HTTP/HTTPS transactions using serialization standard formats like JSON.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212B36"/>
                </a:solidFill>
                <a:latin typeface="Arial"/>
              </a:defRPr>
            </a:pPr>
            <a:r>
              <a:t>04. Frontend Engineering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1206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400"/>
              </a:spcBef>
              <a:spcAft>
                <a:spcPts val="200"/>
              </a:spcAft>
              <a:defRPr sz="1500" b="1">
                <a:solidFill>
                  <a:srgbClr val="212B36"/>
                </a:solidFill>
                <a:latin typeface="Arial"/>
              </a:defRPr>
            </a:pPr>
            <a:r>
              <a:t>• Semantic HTML5 Structure: 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400" b="0">
                <a:solidFill>
                  <a:srgbClr val="6E7882"/>
                </a:solidFill>
                <a:latin typeface="Arial"/>
              </a:defRPr>
            </a:pPr>
            <a:r>
              <a:t>Establishes clean structural hierarchy via semantic nodes (&lt;main&gt;, &lt;article&gt;, &lt;section&gt;) maximizing organic layout discovery.</a:t>
            </a:r>
          </a:p>
          <a:p>
            <a:pPr>
              <a:spcBef>
                <a:spcPts val="1400"/>
              </a:spcBef>
              <a:spcAft>
                <a:spcPts val="200"/>
              </a:spcAft>
              <a:defRPr sz="1500" b="1">
                <a:solidFill>
                  <a:srgbClr val="212B36"/>
                </a:solidFill>
                <a:latin typeface="Arial"/>
              </a:defRPr>
            </a:pPr>
            <a:r>
              <a:t>• Responsive Layout Engines: 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400" b="0">
                <a:solidFill>
                  <a:srgbClr val="6E7882"/>
                </a:solidFill>
                <a:latin typeface="Arial"/>
              </a:defRPr>
            </a:pPr>
            <a:r>
              <a:t>Deploys algorithmic CSS Flexbox and Grid structures to build dynamic viewports without repetitive element cloning.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82512" y="1645920"/>
            <a:ext cx="51206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400"/>
              </a:spcBef>
              <a:spcAft>
                <a:spcPts val="200"/>
              </a:spcAft>
              <a:defRPr sz="1500" b="1">
                <a:solidFill>
                  <a:srgbClr val="212B36"/>
                </a:solidFill>
                <a:latin typeface="Arial"/>
              </a:defRPr>
            </a:pPr>
            <a:r>
              <a:t>• Asynchronous JavaScript: 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400" b="0">
                <a:solidFill>
                  <a:srgbClr val="6E7882"/>
                </a:solidFill>
                <a:latin typeface="Arial"/>
              </a:defRPr>
            </a:pPr>
            <a:r>
              <a:t>Leverages modern ES6 engines executing async/await routines, preventing UI thread freezing during active API data hydration.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212B36"/>
                </a:solidFill>
                <a:latin typeface="Arial"/>
              </a:defRPr>
            </a:pPr>
            <a:r>
              <a:t>05. Backend Architecture &amp; API Ecosystem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1206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400"/>
              </a:spcBef>
              <a:spcAft>
                <a:spcPts val="200"/>
              </a:spcAft>
              <a:defRPr sz="1500" b="1">
                <a:solidFill>
                  <a:srgbClr val="212B36"/>
                </a:solidFill>
                <a:latin typeface="Arial"/>
              </a:defRPr>
            </a:pPr>
            <a:r>
              <a:t>• Application Runtimes: 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400" b="0">
                <a:solidFill>
                  <a:srgbClr val="6E7882"/>
                </a:solidFill>
                <a:latin typeface="Arial"/>
              </a:defRPr>
            </a:pPr>
            <a:r>
              <a:t>Utilizes efficient ecosystems (e.g., Node.js / Python / PHP) built to process multi-tenant business operations reliably.</a:t>
            </a:r>
          </a:p>
          <a:p>
            <a:pPr>
              <a:spcBef>
                <a:spcPts val="1400"/>
              </a:spcBef>
              <a:spcAft>
                <a:spcPts val="200"/>
              </a:spcAft>
              <a:defRPr sz="1500" b="1">
                <a:solidFill>
                  <a:srgbClr val="212B36"/>
                </a:solidFill>
                <a:latin typeface="Arial"/>
              </a:defRPr>
            </a:pPr>
            <a:r>
              <a:t>• RESTful Paradigms: 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400" b="0">
                <a:solidFill>
                  <a:srgbClr val="6E7882"/>
                </a:solidFill>
                <a:latin typeface="Arial"/>
              </a:defRPr>
            </a:pPr>
            <a:r>
              <a:t>Exposes standardized communication channels through strictly mapped HTTP verbs (GET, POST, PUT, DELETE) handling complex resources.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82512" y="1645920"/>
            <a:ext cx="51206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400"/>
              </a:spcBef>
              <a:spcAft>
                <a:spcPts val="200"/>
              </a:spcAft>
              <a:defRPr sz="1500" b="1">
                <a:solidFill>
                  <a:srgbClr val="212B36"/>
                </a:solidFill>
                <a:latin typeface="Arial"/>
              </a:defRPr>
            </a:pPr>
            <a:r>
              <a:t>• Security &amp; Authentication: 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400" b="0">
                <a:solidFill>
                  <a:srgbClr val="6E7882"/>
                </a:solidFill>
                <a:latin typeface="Arial"/>
              </a:defRPr>
            </a:pPr>
            <a:r>
              <a:t>Enforces strict entry barriers using crypto-signed access JSON Web Tokens (JWT) protecting sensitive application workflows.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212B36"/>
                </a:solidFill>
                <a:latin typeface="Arial"/>
              </a:defRPr>
            </a:pPr>
            <a:r>
              <a:t>06. Database Management Systems (DBMS)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1206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400"/>
              </a:spcBef>
              <a:spcAft>
                <a:spcPts val="200"/>
              </a:spcAft>
              <a:defRPr sz="1500" b="1">
                <a:solidFill>
                  <a:srgbClr val="212B36"/>
                </a:solidFill>
                <a:latin typeface="Arial"/>
              </a:defRPr>
            </a:pPr>
            <a:r>
              <a:t>• Relational Architecture (SQL): 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400" b="0">
                <a:solidFill>
                  <a:srgbClr val="6E7882"/>
                </a:solidFill>
                <a:latin typeface="Arial"/>
              </a:defRPr>
            </a:pPr>
            <a:r>
              <a:t>Employs strict schemas (e.g., MySQL, PostgreSQL) ensuring transactional ACID safety for predictable entity structures.</a:t>
            </a:r>
          </a:p>
          <a:p>
            <a:pPr>
              <a:spcBef>
                <a:spcPts val="1400"/>
              </a:spcBef>
              <a:spcAft>
                <a:spcPts val="200"/>
              </a:spcAft>
              <a:defRPr sz="1500" b="1">
                <a:solidFill>
                  <a:srgbClr val="212B36"/>
                </a:solidFill>
                <a:latin typeface="Arial"/>
              </a:defRPr>
            </a:pPr>
            <a:r>
              <a:t>• Document Architecture (NoSQL): 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400" b="0">
                <a:solidFill>
                  <a:srgbClr val="6E7882"/>
                </a:solidFill>
                <a:latin typeface="Arial"/>
              </a:defRPr>
            </a:pPr>
            <a:r>
              <a:t>Utilizes schema-free, horizontal scaling engines (e.g., MongoDB) using dynamic JSON patterns for volatile datasets.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82512" y="1645920"/>
            <a:ext cx="51206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400"/>
              </a:spcBef>
              <a:spcAft>
                <a:spcPts val="200"/>
              </a:spcAft>
              <a:defRPr sz="1500" b="1">
                <a:solidFill>
                  <a:srgbClr val="212B36"/>
                </a:solidFill>
                <a:latin typeface="Arial"/>
              </a:defRPr>
            </a:pPr>
            <a:r>
              <a:t>• Optimization Patterns: 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400" b="0">
                <a:solidFill>
                  <a:srgbClr val="6E7882"/>
                </a:solidFill>
                <a:latin typeface="Arial"/>
              </a:defRPr>
            </a:pPr>
            <a:r>
              <a:t>Implements smart indexing strategies to drastically reduce search lookup latency across deep database indices.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212B36"/>
                </a:solidFill>
                <a:latin typeface="Arial"/>
              </a:defRPr>
            </a:pPr>
            <a:r>
              <a:t>07. Production Operations &amp; Git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1206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400"/>
              </a:spcBef>
              <a:spcAft>
                <a:spcPts val="200"/>
              </a:spcAft>
              <a:defRPr sz="1500" b="1">
                <a:solidFill>
                  <a:srgbClr val="212B36"/>
                </a:solidFill>
                <a:latin typeface="Arial"/>
              </a:defRPr>
            </a:pPr>
            <a:r>
              <a:t>• Branching Isolation: 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400" b="0">
                <a:solidFill>
                  <a:srgbClr val="6E7882"/>
                </a:solidFill>
                <a:latin typeface="Arial"/>
              </a:defRPr>
            </a:pPr>
            <a:r>
              <a:t>Adheres to clear multi-tier branching topologies (main, develop, feature/*) ensuring complete code safety.</a:t>
            </a:r>
          </a:p>
          <a:p>
            <a:pPr>
              <a:spcBef>
                <a:spcPts val="1400"/>
              </a:spcBef>
              <a:spcAft>
                <a:spcPts val="200"/>
              </a:spcAft>
              <a:defRPr sz="1500" b="1">
                <a:solidFill>
                  <a:srgbClr val="212B36"/>
                </a:solidFill>
                <a:latin typeface="Arial"/>
              </a:defRPr>
            </a:pPr>
            <a:r>
              <a:t>• Continuous Review: 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400" b="0">
                <a:solidFill>
                  <a:srgbClr val="6E7882"/>
                </a:solidFill>
                <a:latin typeface="Arial"/>
              </a:defRPr>
            </a:pPr>
            <a:r>
              <a:t>Runs integration checks, linters, and strict automated test suites prior to unlocking team production merges.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82512" y="1645920"/>
            <a:ext cx="51206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400"/>
              </a:spcBef>
              <a:spcAft>
                <a:spcPts val="200"/>
              </a:spcAft>
              <a:defRPr sz="1500" b="1">
                <a:solidFill>
                  <a:srgbClr val="212B36"/>
                </a:solidFill>
                <a:latin typeface="Arial"/>
              </a:defRPr>
            </a:pPr>
            <a:r>
              <a:t>• Dependency Graphs: 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400" b="0">
                <a:solidFill>
                  <a:srgbClr val="6E7882"/>
                </a:solidFill>
                <a:latin typeface="Arial"/>
              </a:defRPr>
            </a:pPr>
            <a:r>
              <a:t>Manages external libraries systematically using package trees (npm/yarn) avoiding unexpected version regressions.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212B36"/>
                </a:solidFill>
                <a:latin typeface="Arial"/>
              </a:defRPr>
            </a:pPr>
            <a:r>
              <a:t>08. Core Internship Objectives &amp; Milestones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1206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400"/>
              </a:spcBef>
              <a:spcAft>
                <a:spcPts val="200"/>
              </a:spcAft>
              <a:defRPr sz="1500" b="1">
                <a:solidFill>
                  <a:srgbClr val="212B36"/>
                </a:solidFill>
                <a:latin typeface="Arial"/>
              </a:defRPr>
            </a:pPr>
            <a:r>
              <a:t>• Practical Delivery: 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400" b="0">
                <a:solidFill>
                  <a:srgbClr val="6E7882"/>
                </a:solidFill>
                <a:latin typeface="Arial"/>
              </a:defRPr>
            </a:pPr>
            <a:r>
              <a:t>Transformed functional wireframes into dynamic, cross-browser responsive interface frameworks.</a:t>
            </a:r>
          </a:p>
          <a:p>
            <a:pPr>
              <a:spcBef>
                <a:spcPts val="1400"/>
              </a:spcBef>
              <a:spcAft>
                <a:spcPts val="200"/>
              </a:spcAft>
              <a:defRPr sz="1500" b="1">
                <a:solidFill>
                  <a:srgbClr val="212B36"/>
                </a:solidFill>
                <a:latin typeface="Arial"/>
              </a:defRPr>
            </a:pPr>
            <a:r>
              <a:t>• Systemic Integrity: 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400" b="0">
                <a:solidFill>
                  <a:srgbClr val="6E7882"/>
                </a:solidFill>
                <a:latin typeface="Arial"/>
              </a:defRPr>
            </a:pPr>
            <a:r>
              <a:t>Designed secure middleware authentication scripts validating entry parameters across multiple operational pathways.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82512" y="1645920"/>
            <a:ext cx="51206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400"/>
              </a:spcBef>
              <a:spcAft>
                <a:spcPts val="200"/>
              </a:spcAft>
              <a:defRPr sz="1500" b="1">
                <a:solidFill>
                  <a:srgbClr val="212B36"/>
                </a:solidFill>
                <a:latin typeface="Arial"/>
              </a:defRPr>
            </a:pPr>
            <a:r>
              <a:t>• Performance Tuning: 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400" b="0">
                <a:solidFill>
                  <a:srgbClr val="6E7882"/>
                </a:solidFill>
                <a:latin typeface="Arial"/>
              </a:defRPr>
            </a:pPr>
            <a:r>
              <a:t>Audited application modules, cleaning up layout bottlenecks to accelerate data layer interactions.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212B36"/>
                </a:solidFill>
                <a:latin typeface="Arial"/>
              </a:defRPr>
            </a:pPr>
            <a:r>
              <a:t>09. Engineering Challenges &amp;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1206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400"/>
              </a:spcBef>
              <a:spcAft>
                <a:spcPts val="200"/>
              </a:spcAft>
              <a:defRPr sz="1500" b="1">
                <a:solidFill>
                  <a:srgbClr val="212B36"/>
                </a:solidFill>
                <a:latin typeface="Arial"/>
              </a:defRPr>
            </a:pPr>
            <a:r>
              <a:t>• Challenge: State Race Conditions: 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400" b="0">
                <a:solidFill>
                  <a:srgbClr val="6E7882"/>
                </a:solidFill>
                <a:latin typeface="Arial"/>
              </a:defRPr>
            </a:pPr>
            <a:r>
              <a:t>Encountered race anomalies during async network updates. Resolution: Refactored data hooks into predictable declarative states.</a:t>
            </a:r>
          </a:p>
          <a:p>
            <a:pPr>
              <a:spcBef>
                <a:spcPts val="1400"/>
              </a:spcBef>
              <a:spcAft>
                <a:spcPts val="200"/>
              </a:spcAft>
              <a:defRPr sz="1500" b="1">
                <a:solidFill>
                  <a:srgbClr val="212B36"/>
                </a:solidFill>
                <a:latin typeface="Arial"/>
              </a:defRPr>
            </a:pPr>
            <a:r>
              <a:t>• Challenge: Cross-Browser Layout Bugs: 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400" b="0">
                <a:solidFill>
                  <a:srgbClr val="6E7882"/>
                </a:solidFill>
                <a:latin typeface="Arial"/>
              </a:defRPr>
            </a:pPr>
            <a:r>
              <a:t>Faced visual breaks on legacy layout engines. Resolution: Enforced modern CSS reset rules and normalized build pipelines.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82512" y="1645920"/>
            <a:ext cx="51206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400"/>
              </a:spcBef>
              <a:spcAft>
                <a:spcPts val="200"/>
              </a:spcAft>
              <a:defRPr sz="1500" b="1">
                <a:solidFill>
                  <a:srgbClr val="212B36"/>
                </a:solidFill>
                <a:latin typeface="Arial"/>
              </a:defRPr>
            </a:pPr>
            <a:r>
              <a:t>• Challenge: Branch Discrepancies: 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400" b="0">
                <a:solidFill>
                  <a:srgbClr val="6E7882"/>
                </a:solidFill>
                <a:latin typeface="Arial"/>
              </a:defRPr>
            </a:pPr>
            <a:r>
              <a:t>Encountered massive merge conflicts. Resolution: Standardized strict upstream rebasing workflows before pushing feature sets.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212B36"/>
                </a:solidFill>
                <a:latin typeface="Arial"/>
              </a:defRPr>
            </a:pPr>
            <a:r>
              <a:t>10. Strategic Conclusions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1206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400"/>
              </a:spcBef>
              <a:spcAft>
                <a:spcPts val="200"/>
              </a:spcAft>
              <a:defRPr sz="1500" b="1">
                <a:solidFill>
                  <a:srgbClr val="212B36"/>
                </a:solidFill>
                <a:latin typeface="Arial"/>
              </a:defRPr>
            </a:pPr>
            <a:r>
              <a:t>• Systemic Growth: 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400" b="0">
                <a:solidFill>
                  <a:srgbClr val="6E7882"/>
                </a:solidFill>
                <a:latin typeface="Arial"/>
              </a:defRPr>
            </a:pPr>
            <a:r>
              <a:t>Developed profound competencies designing industrial-grade, fully resilient full-stack web applications.</a:t>
            </a:r>
          </a:p>
          <a:p>
            <a:pPr>
              <a:spcBef>
                <a:spcPts val="1400"/>
              </a:spcBef>
              <a:spcAft>
                <a:spcPts val="200"/>
              </a:spcAft>
              <a:defRPr sz="1500" b="1">
                <a:solidFill>
                  <a:srgbClr val="212B36"/>
                </a:solidFill>
                <a:latin typeface="Arial"/>
              </a:defRPr>
            </a:pPr>
            <a:r>
              <a:t>• Cultural Alignment: 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400" b="0">
                <a:solidFill>
                  <a:srgbClr val="6E7882"/>
                </a:solidFill>
                <a:latin typeface="Arial"/>
              </a:defRPr>
            </a:pPr>
            <a:r>
              <a:t>Absorbed modern corporate collaboration standards within Codec Technologies' delivery workflows.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82512" y="1645920"/>
            <a:ext cx="51206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400"/>
              </a:spcBef>
              <a:spcAft>
                <a:spcPts val="200"/>
              </a:spcAft>
              <a:defRPr sz="1500" b="1">
                <a:solidFill>
                  <a:srgbClr val="212B36"/>
                </a:solidFill>
                <a:latin typeface="Arial"/>
              </a:defRPr>
            </a:pPr>
            <a:r>
              <a:t>• Future Horizon: 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400" b="0">
                <a:solidFill>
                  <a:srgbClr val="6E7882"/>
                </a:solidFill>
                <a:latin typeface="Arial"/>
              </a:defRPr>
            </a:pPr>
            <a:r>
              <a:t>Aiming to deep-dive into orchestrated containerized infrastructure layouts (Docker) and complex cloud delivery models.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E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Thank You!</a:t>
            </a:r>
          </a:p>
          <a:p>
            <a:pPr algn="ctr">
              <a:spcBef>
                <a:spcPts val="1200"/>
              </a:spcBef>
              <a:defRPr sz="2200">
                <a:solidFill>
                  <a:srgbClr val="009688"/>
                </a:solidFill>
                <a:latin typeface="Arial"/>
              </a:defRPr>
            </a:pPr>
            <a:r>
              <a:t>Questions &amp; Academic Discussion</a:t>
            </a:r>
          </a:p>
          <a:p>
            <a:pPr algn="ctr">
              <a:spcBef>
                <a:spcPts val="3600"/>
              </a:spcBef>
              <a:defRPr sz="1600">
                <a:solidFill>
                  <a:srgbClr val="FFFFFF"/>
                </a:solidFill>
                <a:latin typeface="Arial"/>
              </a:defRPr>
            </a:pPr>
            <a:r>
              <a:t>Pranjal Gangwar | Codec Technologies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